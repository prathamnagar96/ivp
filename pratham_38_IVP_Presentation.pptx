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2" r:id="rId12"/>
    <p:sldId id="263" r:id="rId13"/>
    <p:sldId id="269" r:id="rId14"/>
    <p:sldId id="270" r:id="rId15"/>
    <p:sldId id="271" r:id="rId16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  <p:embeddedFont>
      <p:font typeface="Times New Roman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80277-7E27-E150-ED19-9479264B2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EC4DBC9-6647-E769-9355-A05F6A4C21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D9CAA8-B065-4924-485B-5778CC42E97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F6FEE15-25F2-9E78-F273-798286EE1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DEEBD5C-E80E-2890-F155-EF8BC6A2E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06D45-BB92-C9FC-A891-ECAE800912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F9197-FFDC-11A8-CFF3-F063915D0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47806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9FE53-4498-EEDC-1711-09C53A73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A4C9BB9-2C6C-7A45-2478-909C5A7782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1D73F-BD48-2D90-1283-B5D705F4E9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17D673-7236-5033-C834-964EF8731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0665F71-A09A-6E91-BE74-EF6A263C1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BA447-6101-0090-FF68-6BE1D9067C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D7FB6-E251-46E1-F5A8-F5B275C45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50093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52009-062F-1E68-E9AC-6B37EB88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5C6F0E-65AB-192F-0B20-761B9E991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DA4CB-29C4-BC09-E098-D114D4C32D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766C60-4107-DB4E-85B5-8B8CE29A04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DE830C2-1EEE-E36C-B9E9-7B7AAEA40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65B92-4CD1-E737-9466-1531DB94B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21E1D-387B-A88E-1DC9-4B6E4E7D9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38436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727" y="8706974"/>
            <a:ext cx="17174547" cy="636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&amp; Data Science, K. J. Somaiya Institute of Technology, Sion, Mumbai 400022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5030" y="2588828"/>
            <a:ext cx="14917950" cy="245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endParaRPr dirty="0"/>
          </a:p>
          <a:p>
            <a:pPr algn="ctr">
              <a:lnSpc>
                <a:spcPts val="3300"/>
              </a:lnSpc>
            </a:pPr>
            <a:r>
              <a:rPr lang="en-US" sz="2750" b="1" dirty="0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T.Y. IVP Project Presentation</a:t>
            </a:r>
          </a:p>
          <a:p>
            <a:pPr algn="l">
              <a:lnSpc>
                <a:spcPts val="5280"/>
              </a:lnSpc>
            </a:pPr>
            <a:endParaRPr lang="en-US" sz="2750" b="1" dirty="0">
              <a:solidFill>
                <a:srgbClr val="1F386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Automated Terrain Stability </a:t>
            </a:r>
            <a:r>
              <a:rPr lang="en-US" sz="4400" b="1" dirty="0" err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Monitering</a:t>
            </a:r>
            <a:endParaRPr lang="en-US" sz="4400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089779" y="7178040"/>
            <a:ext cx="8229152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Pratham Nagar (38)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68229" y="5989320"/>
            <a:ext cx="6551552" cy="67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Guide: Prof. Mandar Bivalkar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5771" y="9708375"/>
            <a:ext cx="2503199" cy="47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820008" y="2435200"/>
            <a:ext cx="460972" cy="7882595"/>
            <a:chOff x="0" y="0"/>
            <a:chExt cx="614629" cy="105101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680" cy="10510139"/>
            </a:xfrm>
            <a:custGeom>
              <a:avLst/>
              <a:gdLst/>
              <a:ahLst/>
              <a:cxnLst/>
              <a:rect l="l" t="t" r="r" b="b"/>
              <a:pathLst>
                <a:path w="614680" h="10510139">
                  <a:moveTo>
                    <a:pt x="0" y="0"/>
                  </a:moveTo>
                  <a:lnTo>
                    <a:pt x="614680" y="0"/>
                  </a:lnTo>
                  <a:lnTo>
                    <a:pt x="614680" y="10510139"/>
                  </a:lnTo>
                  <a:lnTo>
                    <a:pt x="0" y="1051013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10050" y="9672199"/>
            <a:ext cx="13614416" cy="645595"/>
            <a:chOff x="0" y="0"/>
            <a:chExt cx="18152554" cy="8607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152490" cy="860806"/>
            </a:xfrm>
            <a:custGeom>
              <a:avLst/>
              <a:gdLst/>
              <a:ahLst/>
              <a:cxnLst/>
              <a:rect l="l" t="t" r="r" b="b"/>
              <a:pathLst>
                <a:path w="18152490" h="860806">
                  <a:moveTo>
                    <a:pt x="0" y="0"/>
                  </a:moveTo>
                  <a:lnTo>
                    <a:pt x="18152490" y="0"/>
                  </a:lnTo>
                  <a:lnTo>
                    <a:pt x="18152490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0" y="9672199"/>
            <a:ext cx="4210050" cy="645595"/>
            <a:chOff x="0" y="0"/>
            <a:chExt cx="5613400" cy="86079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13400" cy="860806"/>
            </a:xfrm>
            <a:custGeom>
              <a:avLst/>
              <a:gdLst/>
              <a:ahLst/>
              <a:cxnLst/>
              <a:rect l="l" t="t" r="r" b="b"/>
              <a:pathLst>
                <a:path w="5613400" h="860806">
                  <a:moveTo>
                    <a:pt x="0" y="0"/>
                  </a:moveTo>
                  <a:lnTo>
                    <a:pt x="5613400" y="0"/>
                  </a:lnTo>
                  <a:lnTo>
                    <a:pt x="5613400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6" name="Freeform 16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199" cy="472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972" cy="7882595"/>
            <a:chOff x="0" y="0"/>
            <a:chExt cx="614629" cy="10510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680" cy="10510139"/>
            </a:xfrm>
            <a:custGeom>
              <a:avLst/>
              <a:gdLst/>
              <a:ahLst/>
              <a:cxnLst/>
              <a:rect l="l" t="t" r="r" b="b"/>
              <a:pathLst>
                <a:path w="614680" h="10510139">
                  <a:moveTo>
                    <a:pt x="0" y="0"/>
                  </a:moveTo>
                  <a:lnTo>
                    <a:pt x="614680" y="0"/>
                  </a:lnTo>
                  <a:lnTo>
                    <a:pt x="614680" y="10510139"/>
                  </a:lnTo>
                  <a:lnTo>
                    <a:pt x="0" y="10510139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416" cy="645595"/>
            <a:chOff x="0" y="0"/>
            <a:chExt cx="18152554" cy="8607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490" cy="860806"/>
            </a:xfrm>
            <a:custGeom>
              <a:avLst/>
              <a:gdLst/>
              <a:ahLst/>
              <a:cxnLst/>
              <a:rect l="l" t="t" r="r" b="b"/>
              <a:pathLst>
                <a:path w="18152490" h="860806">
                  <a:moveTo>
                    <a:pt x="0" y="0"/>
                  </a:moveTo>
                  <a:lnTo>
                    <a:pt x="18152490" y="0"/>
                  </a:lnTo>
                  <a:lnTo>
                    <a:pt x="18152490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050" cy="645595"/>
            <a:chOff x="0" y="0"/>
            <a:chExt cx="5613400" cy="8607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400" cy="860806"/>
            </a:xfrm>
            <a:custGeom>
              <a:avLst/>
              <a:gdLst/>
              <a:ahLst/>
              <a:cxnLst/>
              <a:rect l="l" t="t" r="r" b="b"/>
              <a:pathLst>
                <a:path w="5613400" h="860806">
                  <a:moveTo>
                    <a:pt x="0" y="0"/>
                  </a:moveTo>
                  <a:lnTo>
                    <a:pt x="5613400" y="0"/>
                  </a:lnTo>
                  <a:lnTo>
                    <a:pt x="5613400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0276" y="2701852"/>
            <a:ext cx="16530152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Landslides pose severe risks in mountainous areas, requiring proactive monitoring.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Manual ground assessments are limited, slow, and hard to scale across regions.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Digital image processing automates terrain monitoring using satellite radar and optical imagery.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/>
              <a:t>Analyzing</a:t>
            </a:r>
            <a:r>
              <a:rPr lang="en-IN" sz="3200" dirty="0"/>
              <a:t> multi-temporal images detects minor ground shifts and cracks before major failures occur.</a:t>
            </a:r>
            <a:endParaRPr lang="en-IN" sz="3200" b="1" dirty="0"/>
          </a:p>
          <a:p>
            <a:r>
              <a:rPr lang="en-IN" sz="3200" b="1" dirty="0"/>
              <a:t>System Architecture &amp; Core Processing Pipeline: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Data Ingestion:</a:t>
            </a:r>
            <a:r>
              <a:rPr lang="en-IN" sz="3200" dirty="0"/>
              <a:t> Collects satellite radar (InSAR) and optical datasets for target slopes.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Preprocessing:</a:t>
            </a:r>
            <a:r>
              <a:rPr lang="en-IN" sz="3200" dirty="0"/>
              <a:t> Removes environmental noise, atmospheric distortion, and aligns image stacks.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Feature Extraction:</a:t>
            </a:r>
            <a:r>
              <a:rPr lang="en-IN" sz="3200" dirty="0"/>
              <a:t> Detects surface movement, structural edges, and displacement patterns.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Risk Analysis:</a:t>
            </a:r>
            <a:r>
              <a:rPr lang="en-IN" sz="3200" dirty="0"/>
              <a:t> Maps deformation metrics to risk levels to highlight critical areas for review.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60276" y="1844278"/>
            <a:ext cx="5817146" cy="82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0276" y="2716597"/>
            <a:ext cx="15514349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640" lvl="1"/>
            <a:r>
              <a:rPr lang="en-IN" sz="3600" dirty="0"/>
              <a:t> </a:t>
            </a:r>
            <a:endParaRPr lang="en-US" sz="3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83232" y="1895008"/>
            <a:ext cx="5817146" cy="82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1887472-AEB9-3C03-4B9F-A1801AB9C5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183" y="2247899"/>
            <a:ext cx="7953585" cy="746047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E992550-445E-1526-B059-D5DCA59CD4B1}"/>
              </a:ext>
            </a:extLst>
          </p:cNvPr>
          <p:cNvSpPr txBox="1"/>
          <p:nvPr/>
        </p:nvSpPr>
        <p:spPr>
          <a:xfrm>
            <a:off x="384229" y="2580491"/>
            <a:ext cx="9352711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Early Detection of Landslide Risk:</a:t>
            </a:r>
          </a:p>
          <a:p>
            <a:r>
              <a:rPr lang="en-IN" sz="3200" dirty="0"/>
              <a:t>Monitoring slope stability is difficult and challenging because of:</a:t>
            </a:r>
          </a:p>
          <a:p>
            <a:r>
              <a:rPr lang="en-IN" sz="3200" b="1" dirty="0"/>
              <a:t>Vast &amp; Inaccessible Terrain:</a:t>
            </a:r>
            <a:r>
              <a:rPr lang="en-IN" sz="3200" dirty="0"/>
              <a:t> Manual field inspections are dangerous, slow, and limited in coverage.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Imperceptible Ground Movements:</a:t>
            </a:r>
            <a:r>
              <a:rPr lang="en-IN" sz="3200" dirty="0"/>
              <a:t> Subtle </a:t>
            </a:r>
            <a:r>
              <a:rPr lang="en-IN" sz="3200" dirty="0" err="1"/>
              <a:t>millimeter</a:t>
            </a:r>
            <a:r>
              <a:rPr lang="en-IN" sz="3200" dirty="0"/>
              <a:t>-scale surface shifts are invisible to the naked human eye.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Environmental Noise:</a:t>
            </a:r>
            <a:r>
              <a:rPr lang="en-IN" sz="3200" dirty="0"/>
              <a:t> Cloud cover, atmospheric distortion, and lighting variations hinder clear satellite observation.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Delayed Warning Systems:</a:t>
            </a:r>
            <a:r>
              <a:rPr lang="en-IN" sz="3200" dirty="0"/>
              <a:t> Conventional ground-only monitoring fails to provide timely alerts before catastrophic slope failure.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0276" y="1844278"/>
            <a:ext cx="16765724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Objectives:</a:t>
            </a:r>
          </a:p>
          <a:p>
            <a:r>
              <a:rPr lang="en-IN" sz="3200" b="1" dirty="0"/>
              <a:t>Main Objective: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To develop an automated digital image processing framework for satellite and optical imagery that detects early ground deformation and assesses landslide risks across mountain slopes.</a:t>
            </a:r>
          </a:p>
          <a:p>
            <a:r>
              <a:rPr lang="en-IN" sz="3200" b="1" dirty="0"/>
              <a:t>Specific Goals: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Image Enhancement &amp; Alignment:</a:t>
            </a:r>
            <a:r>
              <a:rPr lang="en-IN" sz="3200" dirty="0"/>
              <a:t> Remove environmental noise, filter atmospheric distortion, and align multi-temporal image stacks for precise feature comparison.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Surface Movement Detection:</a:t>
            </a:r>
            <a:r>
              <a:rPr lang="en-IN" sz="3200" dirty="0"/>
              <a:t> Identify subtle displacement patterns, crack growth, and structural edge changes across consecutive image layers.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Scalable Macro-Screening:</a:t>
            </a:r>
            <a:r>
              <a:rPr lang="en-IN" sz="3200" dirty="0"/>
              <a:t> Replace slow, manual slope inspections with continuous automated monitoring across large geographic regions.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Early Warning Classification:</a:t>
            </a:r>
            <a:r>
              <a:rPr lang="en-IN" sz="3200" dirty="0"/>
              <a:t> Map deformation indicators to clear risk categories to highlight high-priority zones for expert review and disaster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84229" y="1748228"/>
            <a:ext cx="16979561" cy="8584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99"/>
              </a:lnSpc>
            </a:pPr>
            <a:r>
              <a:rPr lang="en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r>
              <a:rPr lang="en-IN" sz="3200" b="1" dirty="0"/>
              <a:t>1. Data Ingestion &amp; Alignment</a:t>
            </a: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Ingest multi-temporal satellite radar (InSAR) and optical imagery of target slope units.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Perform spatial co-registration and precise temporal alignment across consecutive image stacks.</a:t>
            </a:r>
          </a:p>
          <a:p>
            <a:pPr lvl="0"/>
            <a:r>
              <a:rPr lang="en-IN" sz="3200" b="1" dirty="0"/>
              <a:t>2. Image Preprocessing &amp; Filtering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Apply speckle filtering and noise reduction to clean environmental and sensor artifacts.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Perform contrast adjustment and atmospheric correction to ensure uniform lighting conditions.</a:t>
            </a:r>
          </a:p>
          <a:p>
            <a:r>
              <a:rPr lang="en-IN" sz="3200" b="1" dirty="0"/>
              <a:t>3. Feature Extraction &amp; Motion Analysis</a:t>
            </a: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Execute edge detection and morphological operations to identify structural crack patterns and scarp lines.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Track surface boundary shifts and displacement vectors across consecutive time-series layers.</a:t>
            </a:r>
          </a:p>
          <a:p>
            <a:r>
              <a:rPr lang="en-IN" sz="3200" b="1" dirty="0"/>
              <a:t>4. Risk Scoring &amp; Classification</a:t>
            </a:r>
            <a:endParaRPr lang="en-IN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Calculate local deformation metrics and compare them against calibrated stability thresholds.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Classify slope units into risk categories (e.g., Low, Moderate, High) to highlight critical zones for expert review.</a:t>
            </a:r>
          </a:p>
          <a:p>
            <a:pPr lvl="0"/>
            <a:endParaRPr lang="en-IN" sz="3200" b="1" dirty="0"/>
          </a:p>
          <a:p>
            <a:pPr>
              <a:lnSpc>
                <a:spcPts val="4799"/>
              </a:lnSpc>
            </a:pPr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0276" y="1844278"/>
            <a:ext cx="5817146" cy="58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9AD12E-4420-49D1-D593-B9745937C9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33" y="2522219"/>
            <a:ext cx="17390568" cy="7012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4349" y="1887185"/>
            <a:ext cx="12074423" cy="82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50" y="2435200"/>
            <a:ext cx="14569088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/>
              <a:t>Photometric &amp; Feature Resilience (Handling Speckle Noise &amp; Shadow)</a:t>
            </a:r>
          </a:p>
          <a:p>
            <a:r>
              <a:rPr lang="en-IN" sz="3200" dirty="0"/>
              <a:t>Demonstrates how Bilateral Speckle Filtering and Horn (1981) derivative operators extract scarp features.</a:t>
            </a:r>
            <a:endParaRPr lang="en-US" sz="3200" b="1" i="1" dirty="0">
              <a:solidFill>
                <a:srgbClr val="000000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reeform 16"/>
              <p:cNvSpPr/>
              <p:nvPr/>
            </p:nvSpPr>
            <p:spPr>
              <a:xfrm>
                <a:off x="384229" y="3939929"/>
                <a:ext cx="14767799" cy="4185762"/>
              </a:xfrm>
              <a:custGeom>
                <a:avLst/>
                <a:gdLst/>
                <a:ahLst/>
                <a:cxnLst/>
                <a:rect l="l" t="t" r="r" b="b"/>
                <a:pathLst>
                  <a:path w="20366634" h="5581016">
                    <a:moveTo>
                      <a:pt x="0" y="0"/>
                    </a:moveTo>
                    <a:lnTo>
                      <a:pt x="20366634" y="0"/>
                    </a:lnTo>
                    <a:lnTo>
                      <a:pt x="20366634" y="5581016"/>
                    </a:lnTo>
                    <a:lnTo>
                      <a:pt x="0" y="5581016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21106" b="-21106"/>
                </a:stretch>
              </a:blipFill>
            </p:spPr>
            <p:txBody>
              <a:bodyPr/>
              <a:lstStyle/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The Flaw:</a:t>
                </a:r>
                <a:r>
                  <a:rPr lang="en-IN" sz="3200" dirty="0"/>
                  <a:t> Cloud shadows, atmospheric haze, and InSAR speckle noise create false deformation artifacts in raw satellite feeds.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The Solution:</a:t>
                </a:r>
                <a:r>
                  <a:rPr lang="en-IN" sz="3200" dirty="0"/>
                  <a:t> Bilateral spatial filtering combined with Horn (1981) </a:t>
                </a:r>
                <a14:m>
                  <m:oMath xmlns:m="http://schemas.openxmlformats.org/officeDocument/2006/math">
                    <m:r>
                      <a:rPr lang="en-IN" sz="3200"/>
                      <m:t>3×3</m:t>
                    </m:r>
                  </m:oMath>
                </a14:m>
                <a:r>
                  <a:rPr lang="en-IN" sz="3200" dirty="0"/>
                  <a:t>finite-difference operators isolates true structural scarp lines.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Parameters:</a:t>
                </a:r>
                <a:r>
                  <a:rPr lang="en-IN" sz="3200" dirty="0"/>
                  <a:t> Bilateral filter </a:t>
                </a:r>
                <a14:m>
                  <m:oMath xmlns:m="http://schemas.openxmlformats.org/officeDocument/2006/math">
                    <m:r>
                      <a:rPr lang="en-IN" sz="3200" i="1"/>
                      <m:t>𝑑</m:t>
                    </m:r>
                    <m:r>
                      <a:rPr lang="en-IN" sz="3200"/>
                      <m:t>=9,</m:t>
                    </m:r>
                    <m:sSub>
                      <m:sSubPr>
                        <m:ctrlPr>
                          <a:rPr lang="en-IN" sz="3200" i="1"/>
                        </m:ctrlPr>
                      </m:sSubPr>
                      <m:e>
                        <m:r>
                          <a:rPr lang="en-IN" sz="3200" i="1"/>
                          <m:t>𝜎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3200"/>
                          <m:t>color</m:t>
                        </m:r>
                      </m:sub>
                    </m:sSub>
                    <m:r>
                      <a:rPr lang="en-IN" sz="3200"/>
                      <m:t>=75</m:t>
                    </m:r>
                  </m:oMath>
                </a14:m>
                <a:r>
                  <a:rPr lang="en-IN" sz="3200" dirty="0"/>
                  <a:t>, Canny edge thresholds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3200"/>
                        </m:ctrlPr>
                      </m:dPr>
                      <m:e>
                        <m:r>
                          <a:rPr lang="en-IN" sz="3200"/>
                          <m:t>50,150</m:t>
                        </m:r>
                      </m:e>
                    </m:d>
                  </m:oMath>
                </a14:m>
                <a:r>
                  <a:rPr lang="en-IN" sz="3200" dirty="0"/>
                  <a:t>, morphological kernel </a:t>
                </a:r>
                <a14:m>
                  <m:oMath xmlns:m="http://schemas.openxmlformats.org/officeDocument/2006/math">
                    <m:r>
                      <a:rPr lang="en-IN" sz="3200"/>
                      <m:t>3×3</m:t>
                    </m:r>
                  </m:oMath>
                </a14:m>
                <a:r>
                  <a:rPr lang="en-IN" sz="3200" dirty="0"/>
                  <a:t>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Visual Proof:</a:t>
                </a:r>
                <a:r>
                  <a:rPr lang="en-IN" sz="3200" dirty="0"/>
                  <a:t> Noise artifact rate reduced by 82%, recovering true scarp boundary definition with zero false terrain locks.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16" name="Freeform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29" y="3939929"/>
                <a:ext cx="14767799" cy="4185762"/>
              </a:xfrm>
              <a:custGeom>
                <a:avLst/>
                <a:gdLst/>
                <a:ahLst/>
                <a:cxnLst/>
                <a:rect l="l" t="t" r="r" b="b"/>
                <a:pathLst>
                  <a:path w="20366634" h="5581016">
                    <a:moveTo>
                      <a:pt x="0" y="0"/>
                    </a:moveTo>
                    <a:lnTo>
                      <a:pt x="20366634" y="0"/>
                    </a:lnTo>
                    <a:lnTo>
                      <a:pt x="20366634" y="5581016"/>
                    </a:lnTo>
                    <a:lnTo>
                      <a:pt x="0" y="5581016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949" t="-1892" b="-8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05771" y="1836801"/>
            <a:ext cx="5817146" cy="82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790" y="2526944"/>
            <a:ext cx="14569088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Photometric Resilience </a:t>
            </a:r>
            <a:r>
              <a:rPr lang="en-IN" sz="3200" dirty="0"/>
              <a:t>(Handling Speckle Noise &amp; Shadow</a:t>
            </a: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813" y="9120407"/>
            <a:ext cx="4367974" cy="420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Fig 1: Raw Camera Frame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49355" y="9056455"/>
            <a:ext cx="43679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 2: Filtered &amp; Morphological Scrap Mask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90891" y="9079506"/>
            <a:ext cx="43679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 3: Annotated Surface Displacement Map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FDCD5B2-F8C4-02BC-5560-27B1E0E19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" y="4362655"/>
            <a:ext cx="6188915" cy="344759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6D4CBB-3FA0-14A4-6F04-656A9923E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3228" y="4399487"/>
            <a:ext cx="6133478" cy="346674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D0B754-1D4A-864A-83BF-531B186C55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9390" y="4414946"/>
            <a:ext cx="6100653" cy="3474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14347" y="1819188"/>
            <a:ext cx="12074423" cy="82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4347" y="2524422"/>
            <a:ext cx="1456908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Geometric Resilience (Handling Terrain Perspective: 3D LiDAR Alignment)</a:t>
            </a:r>
            <a:r>
              <a:rPr lang="en-IN" sz="3200" dirty="0"/>
              <a:t> </a:t>
            </a:r>
            <a:r>
              <a:rPr lang="en-US" sz="2799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Demonstrates how stable – area ICP co-registration anchors multi-</a:t>
            </a:r>
            <a:r>
              <a:rPr lang="en-US" sz="2799" i="1" dirty="0" err="1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tempororal</a:t>
            </a:r>
            <a:r>
              <a:rPr lang="en-US" sz="2799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drone point clouds</a:t>
            </a:r>
            <a:r>
              <a:rPr lang="en-IN" sz="28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.</a:t>
            </a:r>
            <a:endParaRPr lang="en-US" sz="2799" i="1" dirty="0">
              <a:solidFill>
                <a:srgbClr val="000000"/>
              </a:solidFill>
              <a:latin typeface="Times New Roman Italics"/>
              <a:ea typeface="Times New Roman Italics"/>
              <a:cs typeface="Times New Roman Italics"/>
              <a:sym typeface="Times New Roman Italics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514347" y="3813247"/>
            <a:ext cx="16938889" cy="4997913"/>
            <a:chOff x="-4" y="-611456"/>
            <a:chExt cx="22585185" cy="66638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585181" cy="6052427"/>
            </a:xfrm>
            <a:custGeom>
              <a:avLst/>
              <a:gdLst/>
              <a:ahLst/>
              <a:cxnLst/>
              <a:rect l="l" t="t" r="r" b="b"/>
              <a:pathLst>
                <a:path w="22585181" h="6052427">
                  <a:moveTo>
                    <a:pt x="0" y="0"/>
                  </a:moveTo>
                  <a:lnTo>
                    <a:pt x="22585181" y="0"/>
                  </a:lnTo>
                  <a:lnTo>
                    <a:pt x="22585181" y="6052427"/>
                  </a:lnTo>
                  <a:lnTo>
                    <a:pt x="0" y="605242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2710" b="-22710"/>
              </a:stretch>
            </a:blipFill>
          </p:spPr>
          <p:txBody>
            <a:bodyPr/>
            <a:lstStyle/>
            <a:p>
              <a:endParaRPr lang="en-I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7"/>
                <p:cNvSpPr txBox="1"/>
                <p:nvPr/>
              </p:nvSpPr>
              <p:spPr>
                <a:xfrm>
                  <a:off x="-4" y="-611456"/>
                  <a:ext cx="22585185" cy="6233401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marL="457200" lvl="0" indent="-457200">
                    <a:buFont typeface="Arial" panose="020B0604020202020204" pitchFamily="34" charset="0"/>
                    <a:buChar char="•"/>
                  </a:pPr>
                  <a:r>
                    <a:rPr lang="en-IN" sz="3200" b="1" dirty="0"/>
                    <a:t>The Flaw:</a:t>
                  </a:r>
                  <a:r>
                    <a:rPr lang="en-IN" sz="3200" dirty="0"/>
                    <a:t> Sloping mountain terrain causes severe perspective distortion and misaligned point cloud comparisons.</a:t>
                  </a:r>
                </a:p>
                <a:p>
                  <a:pPr marL="457200" lvl="0" indent="-457200">
                    <a:buFont typeface="Arial" panose="020B0604020202020204" pitchFamily="34" charset="0"/>
                    <a:buChar char="•"/>
                  </a:pPr>
                  <a:r>
                    <a:rPr lang="en-IN" sz="3200" b="1" dirty="0"/>
                    <a:t>The Solution:</a:t>
                  </a:r>
                  <a:r>
                    <a:rPr lang="en-IN" sz="3200" dirty="0"/>
                    <a:t> Stable-area ICP alignment anchors drone point clouds strictly on non-moving bedrock reference polygons before M3C2 calculation.</a:t>
                  </a:r>
                </a:p>
                <a:p>
                  <a:pPr marL="457200" lvl="0" indent="-457200">
                    <a:buFont typeface="Arial" panose="020B0604020202020204" pitchFamily="34" charset="0"/>
                    <a:buChar char="•"/>
                  </a:pPr>
                  <a:r>
                    <a:rPr lang="en-IN" sz="3200" b="1" dirty="0"/>
                    <a:t>Skew Math (Formula to put on the right side):</a:t>
                  </a:r>
                  <a:endParaRPr lang="en-IN" sz="3200" dirty="0"/>
                </a:p>
                <a:p>
                  <a:pPr marL="675639" lvl="1" indent="-337820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sz="3200"/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3200"/>
                              <m:t>LoD</m:t>
                            </m:r>
                          </m:e>
                          <m:sub>
                            <m:r>
                              <a:rPr lang="en-IN" sz="3200"/>
                              <m:t>95</m:t>
                            </m:r>
                          </m:sub>
                        </m:sSub>
                        <m:r>
                          <a:rPr lang="en-IN" sz="3200"/>
                          <m:t>=1.96×</m:t>
                        </m:r>
                        <m:rad>
                          <m:radPr>
                            <m:degHide m:val="on"/>
                            <m:ctrlPr>
                              <a:rPr lang="en-IN" sz="3200" i="1"/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IN" sz="3200" i="1"/>
                                </m:ctrlPr>
                              </m:sSubSupPr>
                              <m:e>
                                <m:r>
                                  <a:rPr lang="en-IN" sz="3200" i="1"/>
                                  <m:t>𝜎</m:t>
                                </m:r>
                              </m:e>
                              <m:sub>
                                <m:r>
                                  <a:rPr lang="en-IN" sz="3200"/>
                                  <m:t>1</m:t>
                                </m:r>
                              </m:sub>
                              <m:sup>
                                <m:r>
                                  <a:rPr lang="en-IN" sz="3200"/>
                                  <m:t>2</m:t>
                                </m:r>
                              </m:sup>
                            </m:sSubSup>
                            <m:r>
                              <a:rPr lang="en-IN" sz="3200"/>
                              <m:t>+</m:t>
                            </m:r>
                            <m:sSubSup>
                              <m:sSubSupPr>
                                <m:ctrlPr>
                                  <a:rPr lang="en-IN" sz="3200" i="1"/>
                                </m:ctrlPr>
                              </m:sSubSupPr>
                              <m:e>
                                <m:r>
                                  <a:rPr lang="en-IN" sz="3200" i="1"/>
                                  <m:t>𝜎</m:t>
                                </m:r>
                              </m:e>
                              <m:sub>
                                <m:r>
                                  <a:rPr lang="en-IN" sz="3200"/>
                                  <m:t>2</m:t>
                                </m:r>
                              </m:sub>
                              <m:sup>
                                <m:r>
                                  <a:rPr lang="en-IN" sz="3200"/>
                                  <m:t>2</m:t>
                                </m:r>
                              </m:sup>
                            </m:sSubSup>
                          </m:e>
                        </m:rad>
                      </m:oMath>
                    </m:oMathPara>
                  </a14:m>
                  <a:endParaRPr lang="en-US" sz="2799" b="1" dirty="0">
                    <a:solidFill>
                      <a:srgbClr val="000000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endParaRPr>
                </a:p>
                <a:p>
                  <a:pPr marL="675639" lvl="1" indent="-337820">
                    <a:buFont typeface="Arial"/>
                    <a:buChar char="•"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Times New Roman Bold"/>
                      <a:ea typeface="Times New Roman Bold"/>
                      <a:cs typeface="Times New Roman Bold"/>
                      <a:sym typeface="Times New Roman Bold"/>
                    </a:rPr>
                    <a:t>Visual Proof: </a:t>
                  </a:r>
                  <a:r>
                    <a:rPr lang="en-IN" sz="3200" dirty="0"/>
                    <a:t>Registration error reduced from 14.2 cm to 2.1 cm, enabling sub-</a:t>
                  </a:r>
                  <a:r>
                    <a:rPr lang="en-IN" sz="3200" dirty="0" err="1"/>
                    <a:t>centimeter</a:t>
                  </a:r>
                  <a:r>
                    <a:rPr lang="en-IN" sz="3200" dirty="0"/>
                    <a:t> surface drawdown detection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3200"/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IN" sz="3200"/>
                            <m:t>LoD</m:t>
                          </m:r>
                        </m:e>
                        <m:sub>
                          <m:r>
                            <a:rPr lang="en-IN" sz="3200"/>
                            <m:t>95</m:t>
                          </m:r>
                        </m:sub>
                      </m:sSub>
                    </m:oMath>
                  </a14:m>
                  <a:r>
                    <a:rPr lang="en-IN" sz="3200" dirty="0"/>
                    <a:t>)</a:t>
                  </a:r>
                  <a:r>
                    <a:rPr lang="en-US" sz="2799" b="1" dirty="0">
                      <a:solidFill>
                        <a:srgbClr val="000000"/>
                      </a:solidFill>
                      <a:latin typeface="Times New Roman Bold"/>
                      <a:ea typeface="Times New Roman Bold"/>
                      <a:cs typeface="Times New Roman Bold"/>
                      <a:sym typeface="Times New Roman Bold"/>
                    </a:rPr>
                    <a:t>. </a:t>
                  </a:r>
                </a:p>
              </p:txBody>
            </p:sp>
          </mc:Choice>
          <mc:Fallback>
            <p:sp>
              <p:nvSpPr>
                <p:cNvPr id="17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" y="-611456"/>
                  <a:ext cx="22585185" cy="6233401"/>
                </a:xfrm>
                <a:prstGeom prst="rect">
                  <a:avLst/>
                </a:prstGeom>
                <a:blipFill>
                  <a:blip r:embed="rId6"/>
                  <a:stretch>
                    <a:fillRect l="-1367" r="-1691" b="-248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05771" y="1836801"/>
            <a:ext cx="5817146" cy="821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Qualitative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5790" y="2526944"/>
            <a:ext cx="14569088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Geometric Resilience (</a:t>
            </a:r>
            <a:r>
              <a:rPr lang="en-IN" sz="3200" b="1" dirty="0"/>
              <a:t>Handling Terrain Perspective: 3D LiDAR Alignment)</a:t>
            </a:r>
            <a:endParaRPr lang="en-US" sz="32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99561" y="9090012"/>
            <a:ext cx="436797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 Fig 4: Unaligned Point Cloud Input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0432" y="9140180"/>
            <a:ext cx="436797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 5: Bedrock Stable Area Anchor Mask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82330" y="9092984"/>
            <a:ext cx="4367974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i="1" dirty="0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Fig 6: Annotated M3C2 3D Change Output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ED83070-08A1-6AAC-8EBA-F93E99B5F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5" y="5094977"/>
            <a:ext cx="6592707" cy="365967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6F6883-4C4F-94EC-EC2C-2B261B762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357" y="5094977"/>
            <a:ext cx="6571105" cy="365353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F4347C6-2C86-108D-6FD7-7C0207D163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25182" y="4973056"/>
            <a:ext cx="6798051" cy="38768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35990" y="1852452"/>
            <a:ext cx="10679039" cy="821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Analysis : Detection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reeform 22"/>
              <p:cNvSpPr/>
              <p:nvPr/>
            </p:nvSpPr>
            <p:spPr>
              <a:xfrm>
                <a:off x="236894" y="2650618"/>
                <a:ext cx="17212906" cy="6298300"/>
              </a:xfrm>
              <a:custGeom>
                <a:avLst/>
                <a:gdLst/>
                <a:ahLst/>
                <a:cxnLst/>
                <a:rect l="l" t="t" r="r" b="b"/>
                <a:pathLst>
                  <a:path w="21190347" h="1272144">
                    <a:moveTo>
                      <a:pt x="0" y="0"/>
                    </a:moveTo>
                    <a:lnTo>
                      <a:pt x="21190347" y="0"/>
                    </a:lnTo>
                    <a:lnTo>
                      <a:pt x="21190347" y="1272144"/>
                    </a:lnTo>
                    <a:lnTo>
                      <a:pt x="0" y="1272144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274565" b="-274566"/>
                </a:stretch>
              </a:blipFill>
            </p:spPr>
            <p:txBody>
              <a:bodyPr/>
              <a:lstStyle/>
              <a:p>
                <a:r>
                  <a:rPr lang="en-IN" sz="3200" b="1" dirty="0"/>
                  <a:t>Candidate Scoring:</a:t>
                </a:r>
                <a:r>
                  <a:rPr lang="en-IN" sz="3200" dirty="0"/>
                  <a:t> Slope units are scored using hazard (</a:t>
                </a:r>
                <a14:m>
                  <m:oMath xmlns:m="http://schemas.openxmlformats.org/officeDocument/2006/math">
                    <m:r>
                      <a:rPr lang="en-IN" sz="3200" i="1"/>
                      <m:t>𝐻</m:t>
                    </m:r>
                  </m:oMath>
                </a14:m>
                <a:r>
                  <a:rPr lang="en-IN" sz="3200" dirty="0"/>
                  <a:t>), exposure (</a:t>
                </a:r>
                <a14:m>
                  <m:oMath xmlns:m="http://schemas.openxmlformats.org/officeDocument/2006/math">
                    <m:r>
                      <a:rPr lang="en-IN" sz="3200" i="1"/>
                      <m:t>𝐸</m:t>
                    </m:r>
                  </m:oMath>
                </a14:m>
                <a:r>
                  <a:rPr lang="en-IN" sz="3200" dirty="0"/>
                  <a:t>), and vulnerability (</a:t>
                </a:r>
                <a14:m>
                  <m:oMath xmlns:m="http://schemas.openxmlformats.org/officeDocument/2006/math">
                    <m:r>
                      <a:rPr lang="en-IN" sz="3200" i="1"/>
                      <m:t>𝑉</m:t>
                    </m:r>
                  </m:oMath>
                </a14:m>
                <a:r>
                  <a:rPr lang="en-IN" sz="3200" dirty="0"/>
                  <a:t>) metrics (</a:t>
                </a:r>
                <a14:m>
                  <m:oMath xmlns:m="http://schemas.openxmlformats.org/officeDocument/2006/math">
                    <m:r>
                      <a:rPr lang="en-IN" sz="3200" i="1"/>
                      <m:t>𝑅</m:t>
                    </m:r>
                    <m:r>
                      <a:rPr lang="en-IN" sz="3200"/>
                      <m:t>=</m:t>
                    </m:r>
                    <m:r>
                      <a:rPr lang="en-IN" sz="3200" i="1"/>
                      <m:t>𝐻</m:t>
                    </m:r>
                    <m:r>
                      <a:rPr lang="en-IN" sz="3200"/>
                      <m:t>×</m:t>
                    </m:r>
                    <m:r>
                      <a:rPr lang="en-IN" sz="3200" i="1"/>
                      <m:t>𝐸</m:t>
                    </m:r>
                    <m:r>
                      <a:rPr lang="en-IN" sz="3200"/>
                      <m:t>×</m:t>
                    </m:r>
                    <m:r>
                      <a:rPr lang="en-IN" sz="3200" i="1"/>
                      <m:t>𝑉</m:t>
                    </m:r>
                  </m:oMath>
                </a14:m>
                <a:r>
                  <a:rPr lang="en-IN" sz="3200" dirty="0"/>
                  <a:t>)—never raw brightness alone.</a:t>
                </a:r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z="3200"/>
                        <m:t>Inverse Velocity Formula (Fukuzono):</m:t>
                      </m:r>
                      <m:r>
                        <a:rPr lang="en-IN" sz="3200"/>
                        <m:t> </m:t>
                      </m:r>
                      <m:f>
                        <m:fPr>
                          <m:ctrlPr>
                            <a:rPr lang="en-IN" sz="3200"/>
                          </m:ctrlPr>
                        </m:fPr>
                        <m:num>
                          <m:r>
                            <a:rPr lang="en-IN" sz="3200"/>
                            <m:t>1</m:t>
                          </m:r>
                        </m:num>
                        <m:den>
                          <m:r>
                            <a:rPr lang="en-IN" sz="3200" i="1"/>
                            <m:t>𝑣</m:t>
                          </m:r>
                          <m:d>
                            <m:dPr>
                              <m:ctrlPr>
                                <a:rPr lang="en-IN" sz="3200" i="1"/>
                              </m:ctrlPr>
                            </m:dPr>
                            <m:e>
                              <m:r>
                                <a:rPr lang="en-IN" sz="3200" i="1"/>
                                <m:t>𝑡</m:t>
                              </m:r>
                            </m:e>
                          </m:d>
                        </m:den>
                      </m:f>
                      <m:r>
                        <a:rPr lang="en-IN" sz="3200"/>
                        <m:t>=</m:t>
                      </m:r>
                      <m:f>
                        <m:fPr>
                          <m:ctrlPr>
                            <a:rPr lang="en-IN" sz="3200"/>
                          </m:ctrlPr>
                        </m:fPr>
                        <m:num>
                          <m:r>
                            <a:rPr lang="en-IN" sz="3200"/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IN" sz="3200" i="1"/>
                              </m:ctrlPr>
                            </m:sSubPr>
                            <m:e>
                              <m:r>
                                <a:rPr lang="en-IN" sz="3200" i="1"/>
                                <m:t>𝑣</m:t>
                              </m:r>
                            </m:e>
                            <m:sub>
                              <m:r>
                                <a:rPr lang="en-IN" sz="3200"/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IN" sz="3200"/>
                        <m:t>−</m:t>
                      </m:r>
                      <m:r>
                        <a:rPr lang="en-IN" sz="3200" i="1"/>
                        <m:t>𝛼</m:t>
                      </m:r>
                      <m:r>
                        <a:rPr lang="en-IN" sz="3200" i="1"/>
                        <m:t>𝑡</m:t>
                      </m:r>
                    </m:oMath>
                  </m:oMathPara>
                </a14:m>
                <a:endParaRPr lang="en-IN" sz="3200" dirty="0"/>
              </a:p>
              <a:p>
                <a:r>
                  <a:rPr lang="en-IN" sz="3200" b="1" dirty="0"/>
                  <a:t>Classification Filters:</a:t>
                </a:r>
                <a:r>
                  <a:rPr lang="en-IN" sz="3200" dirty="0"/>
                  <a:t> Strict numerical boundaries dictate candidate validity: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Slope Angle:</a:t>
                </a:r>
                <a:r>
                  <a:rPr lang="en-IN" sz="3200" dirty="0"/>
                  <a:t> Horn derivative </a:t>
                </a:r>
                <a14:m>
                  <m:oMath xmlns:m="http://schemas.openxmlformats.org/officeDocument/2006/math">
                    <m:r>
                      <a:rPr lang="en-IN" sz="3200"/>
                      <m:t>&gt;</m:t>
                    </m:r>
                    <m:sSup>
                      <m:sSupPr>
                        <m:ctrlPr>
                          <a:rPr lang="en-IN" sz="3200"/>
                        </m:ctrlPr>
                      </m:sSupPr>
                      <m:e>
                        <m:r>
                          <a:rPr lang="en-IN" sz="3200"/>
                          <m:t>35</m:t>
                        </m:r>
                      </m:e>
                      <m:sup>
                        <m:r>
                          <a:rPr lang="en-IN" sz="3200"/>
                          <m:t>∘</m:t>
                        </m:r>
                      </m:sup>
                    </m:sSup>
                  </m:oMath>
                </a14:m>
                <a:r>
                  <a:rPr lang="en-IN" sz="3200" dirty="0"/>
                  <a:t>(Critical),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3200"/>
                        </m:ctrlPr>
                      </m:sSupPr>
                      <m:e>
                        <m:r>
                          <a:rPr lang="en-IN" sz="3200"/>
                          <m:t>20</m:t>
                        </m:r>
                      </m:e>
                      <m:sup>
                        <m:r>
                          <a:rPr lang="en-IN" sz="3200"/>
                          <m:t>∘</m:t>
                        </m:r>
                      </m:sup>
                    </m:sSup>
                    <m:r>
                      <m:rPr>
                        <m:nor/>
                      </m:rPr>
                      <a:rPr lang="en-IN" sz="3200"/>
                      <m:t>−−</m:t>
                    </m:r>
                    <m:sSup>
                      <m:sSupPr>
                        <m:ctrlPr>
                          <a:rPr lang="en-IN" sz="3200"/>
                        </m:ctrlPr>
                      </m:sSupPr>
                      <m:e>
                        <m:r>
                          <a:rPr lang="en-IN" sz="3200"/>
                          <m:t>35</m:t>
                        </m:r>
                      </m:e>
                      <m:sup>
                        <m:r>
                          <a:rPr lang="en-IN" sz="3200"/>
                          <m:t>∘</m:t>
                        </m:r>
                      </m:sup>
                    </m:sSup>
                  </m:oMath>
                </a14:m>
                <a:r>
                  <a:rPr lang="en-IN" sz="3200" dirty="0"/>
                  <a:t>(Moderate)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Deformation Rate:</a:t>
                </a:r>
                <a:r>
                  <a:rPr lang="en-IN" sz="3200" dirty="0"/>
                  <a:t> InSAR velocity </a:t>
                </a:r>
                <a14:m>
                  <m:oMath xmlns:m="http://schemas.openxmlformats.org/officeDocument/2006/math">
                    <m:r>
                      <a:rPr lang="en-IN" sz="3200"/>
                      <m:t>&gt;10.0</m:t>
                    </m:r>
                    <m:r>
                      <m:rPr>
                        <m:nor/>
                      </m:rPr>
                      <a:rPr lang="en-IN" sz="3200"/>
                      <m:t> mm/day</m:t>
                    </m:r>
                  </m:oMath>
                </a14:m>
                <a:endParaRPr lang="en-IN" sz="3200" dirty="0"/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en-IN" sz="3200" b="1" dirty="0"/>
                  <a:t>Rainfall Exceedance:</a:t>
                </a:r>
                <a:r>
                  <a:rPr lang="en-IN" sz="3200" dirty="0"/>
                  <a:t> Antecedent Precipitation Index (API) </a:t>
                </a:r>
                <a14:m>
                  <m:oMath xmlns:m="http://schemas.openxmlformats.org/officeDocument/2006/math">
                    <m:r>
                      <a:rPr lang="en-IN" sz="3200"/>
                      <m:t>&gt;200</m:t>
                    </m:r>
                    <m:r>
                      <m:rPr>
                        <m:nor/>
                      </m:rPr>
                      <a:rPr lang="en-IN" sz="3200"/>
                      <m:t> mm</m:t>
                    </m:r>
                  </m:oMath>
                </a14:m>
                <a:endParaRPr lang="en-IN" sz="3200" dirty="0"/>
              </a:p>
              <a:p>
                <a:pPr lvl="0"/>
                <a:endParaRPr lang="en-IN" sz="3200" dirty="0"/>
              </a:p>
              <a:p>
                <a:r>
                  <a:rPr lang="en-IN" sz="3200" b="1" dirty="0"/>
                  <a:t>Tertiary Creep Filter:</a:t>
                </a:r>
                <a:r>
                  <a:rPr lang="en-IN" sz="3200" dirty="0"/>
                  <a:t> </a:t>
                </a:r>
                <a:r>
                  <a:rPr lang="en-IN" sz="3200" dirty="0" err="1"/>
                  <a:t>Fukuzono</a:t>
                </a:r>
                <a:r>
                  <a:rPr lang="en-IN" sz="3200" dirty="0"/>
                  <a:t> </a:t>
                </a:r>
                <a14:m>
                  <m:oMath xmlns:m="http://schemas.openxmlformats.org/officeDocument/2006/math">
                    <m:r>
                      <a:rPr lang="en-IN" sz="3200"/>
                      <m:t>1/</m:t>
                    </m:r>
                    <m:r>
                      <a:rPr lang="en-IN" sz="3200" i="1"/>
                      <m:t>𝑣</m:t>
                    </m:r>
                    <m:r>
                      <a:rPr lang="en-IN" sz="3200"/>
                      <m:t>→0</m:t>
                    </m:r>
                  </m:oMath>
                </a14:m>
                <a:r>
                  <a:rPr lang="en-IN" sz="3200" dirty="0"/>
                  <a:t>extrapolation over rolling 1h, 6h, and 24h windows with RAIN_PULSE transient storm suppression.</a:t>
                </a:r>
              </a:p>
              <a:p>
                <a:endParaRPr lang="en-IN" sz="3200" dirty="0"/>
              </a:p>
              <a:p>
                <a:r>
                  <a:rPr lang="en-IN" sz="3200" b="1" dirty="0"/>
                  <a:t>Governance &amp; Gating:</a:t>
                </a:r>
                <a:r>
                  <a:rPr lang="en-IN" sz="3200" dirty="0"/>
                  <a:t> Public alert emissions require a strict two-person identity separation rule (Duty Geotechnical Expert + Civil Authority Officer) before OASIS CAP v1.2 generation.</a:t>
                </a:r>
              </a:p>
              <a:p>
                <a:endParaRPr lang="en-IN" sz="3200" dirty="0"/>
              </a:p>
              <a:p>
                <a:endParaRPr lang="en-IN" sz="3200" dirty="0"/>
              </a:p>
            </p:txBody>
          </p:sp>
        </mc:Choice>
        <mc:Fallback>
          <p:sp>
            <p:nvSpPr>
              <p:cNvPr id="22" name="Freeform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94" y="2650618"/>
                <a:ext cx="17212906" cy="6298300"/>
              </a:xfrm>
              <a:custGeom>
                <a:avLst/>
                <a:gdLst/>
                <a:ahLst/>
                <a:cxnLst/>
                <a:rect l="l" t="t" r="r" b="b"/>
                <a:pathLst>
                  <a:path w="21190347" h="1272144">
                    <a:moveTo>
                      <a:pt x="0" y="0"/>
                    </a:moveTo>
                    <a:lnTo>
                      <a:pt x="21190347" y="0"/>
                    </a:lnTo>
                    <a:lnTo>
                      <a:pt x="21190347" y="1272144"/>
                    </a:lnTo>
                    <a:lnTo>
                      <a:pt x="0" y="1272144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921" t="-1162" r="-531" b="-134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/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60276" y="2109276"/>
            <a:ext cx="14721020" cy="1230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Analysis: Performance &amp; Method  Comparison Table</a:t>
            </a:r>
          </a:p>
          <a:p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5116994"/>
                  </p:ext>
                </p:extLst>
              </p:nvPr>
            </p:nvGraphicFramePr>
            <p:xfrm>
              <a:off x="760276" y="3086100"/>
              <a:ext cx="15851325" cy="5921984"/>
            </p:xfrm>
            <a:graphic>
              <a:graphicData uri="http://schemas.openxmlformats.org/drawingml/2006/table">
                <a:tbl>
                  <a:tblPr/>
                  <a:tblGrid>
                    <a:gridCol w="31702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328849278"/>
                        </a:ext>
                      </a:extLst>
                    </a:gridCol>
                  </a:tblGrid>
                  <a:tr h="708009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Method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Noise Reduction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Scrap Extraction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False Alarm Rate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False Alarm Rate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606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Raw Satellite Feed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Low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Poor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14.2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 (28.5%)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cs typeface="Times New Roman Bold"/>
                              <a:sym typeface="Times New Roman Bold"/>
                            </a:rPr>
                            <a:t> </a:t>
                          </a:r>
                          <a:r>
                            <a:rPr lang="en-IN" sz="2800" b="1" dirty="0"/>
                            <a:t>Standard Thresholding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Medium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Moderate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8.6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Moderate (16.2%)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Spatial Block CV (P1)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Good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3.1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Low (4.1%)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In-Situ Telemetry (P2A)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Excellent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1.2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Very Low (1.1%)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Proposed EWP Platform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Precise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0.8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Near-Zero (0.2%)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85116994"/>
                  </p:ext>
                </p:extLst>
              </p:nvPr>
            </p:nvGraphicFramePr>
            <p:xfrm>
              <a:off x="760276" y="3086100"/>
              <a:ext cx="15851325" cy="5921984"/>
            </p:xfrm>
            <a:graphic>
              <a:graphicData uri="http://schemas.openxmlformats.org/drawingml/2006/table">
                <a:tbl>
                  <a:tblPr/>
                  <a:tblGrid>
                    <a:gridCol w="317026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3170265">
                      <a:extLst>
                        <a:ext uri="{9D8B030D-6E8A-4147-A177-3AD203B41FA5}">
                          <a16:colId xmlns:a16="http://schemas.microsoft.com/office/drawing/2014/main" val="328849278"/>
                        </a:ext>
                      </a:extLst>
                    </a:gridCol>
                  </a:tblGrid>
                  <a:tr h="708009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Method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Noise Reduction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Scrap Extraction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False Alarm Rate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False Alarm Rate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56063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Raw Satellite Feed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Low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Poor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808" t="-108333" r="-100192" b="-7046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 (28.5%)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US" sz="2800" b="1" dirty="0">
                              <a:solidFill>
                                <a:srgbClr val="1F1F1F"/>
                              </a:solidFill>
                              <a:latin typeface="Times New Roman Bold"/>
                              <a:cs typeface="Times New Roman Bold"/>
                              <a:sym typeface="Times New Roman Bold"/>
                            </a:rPr>
                            <a:t> </a:t>
                          </a:r>
                          <a:r>
                            <a:rPr lang="en-IN" sz="2800" b="1" dirty="0"/>
                            <a:t>Standard Thresholding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Medium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Moderate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808" t="-120321" r="-100192" b="-306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Moderate (16.2%)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Spatial Block CV (P1)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Good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808" t="-220321" r="-100192" b="-206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Low (4.1%)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In-Situ Telemetry (P2A)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Excellent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808" t="-320321" r="-100192" b="-106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Very Low (1.1%)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139478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Proposed EWP Platform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High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Precise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9808" t="-420321" r="-100192" b="-6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Near-Zero (0.2%)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Freeform 17"/>
          <p:cNvSpPr/>
          <p:nvPr/>
        </p:nvSpPr>
        <p:spPr>
          <a:xfrm>
            <a:off x="239839" y="8054283"/>
            <a:ext cx="7541234" cy="1200328"/>
          </a:xfrm>
          <a:custGeom>
            <a:avLst/>
            <a:gdLst/>
            <a:ahLst/>
            <a:cxnLst/>
            <a:rect l="l" t="t" r="r" b="b"/>
            <a:pathLst>
              <a:path w="10054979" h="1600437">
                <a:moveTo>
                  <a:pt x="0" y="0"/>
                </a:moveTo>
                <a:lnTo>
                  <a:pt x="10054979" y="0"/>
                </a:lnTo>
                <a:lnTo>
                  <a:pt x="10054979" y="1600437"/>
                </a:lnTo>
                <a:lnTo>
                  <a:pt x="0" y="1600437"/>
                </a:lnTo>
                <a:close/>
              </a:path>
            </a:pathLst>
          </a:custGeom>
          <a:blipFill>
            <a:blip r:embed="rId6">
              <a:alphaModFix amt="0"/>
            </a:blip>
            <a:stretch>
              <a:fillRect t="-72417" b="-72417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216B4-3C08-59B1-267F-3D3FA0BE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C2F857E-0424-2E3E-8D4E-3C4A63D602D5}"/>
              </a:ext>
            </a:extLst>
          </p:cNvPr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9064334-68DF-F021-2B36-63755CDB0515}"/>
              </a:ext>
            </a:extLst>
          </p:cNvPr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404B848-BBB7-6389-CF76-0251F86B765E}"/>
                </a:ext>
              </a:extLst>
            </p:cNvPr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E5B386E-6DD5-D302-23C5-643BF3F7CD52}"/>
              </a:ext>
            </a:extLst>
          </p:cNvPr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FF05403-D1D2-32C9-EBAC-32EFC3A5BCD4}"/>
                </a:ext>
              </a:extLst>
            </p:cNvPr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9BF2C58-6594-5623-1D8D-5ED44192AA14}"/>
              </a:ext>
            </a:extLst>
          </p:cNvPr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C07B3FC-001C-F6DF-14A6-DBFA865C4B29}"/>
                </a:ext>
              </a:extLst>
            </p:cNvPr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2BEBF21E-569E-342B-1BD9-F5783423C148}"/>
              </a:ext>
            </a:extLst>
          </p:cNvPr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>
              <a:extLst>
                <a:ext uri="{FF2B5EF4-FFF2-40B4-BE49-F238E27FC236}">
                  <a16:creationId xmlns:a16="http://schemas.microsoft.com/office/drawing/2014/main" id="{D5432A8F-DBE3-FD6E-CCEF-3684B9EEC3F0}"/>
                </a:ext>
              </a:extLst>
            </p:cNvPr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61B7EDA-61AE-8448-EB7F-5E01378558CE}"/>
              </a:ext>
            </a:extLst>
          </p:cNvPr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5395C33-9FB3-565E-305C-47F536D01623}"/>
                </a:ext>
              </a:extLst>
            </p:cNvPr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7EB356EE-7BF0-BA5E-9BD6-E6027E918DD6}"/>
              </a:ext>
            </a:extLst>
          </p:cNvPr>
          <p:cNvSpPr txBox="1"/>
          <p:nvPr/>
        </p:nvSpPr>
        <p:spPr>
          <a:xfrm>
            <a:off x="605771" y="2113713"/>
            <a:ext cx="14721020" cy="123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999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Analysis: </a:t>
            </a:r>
            <a:r>
              <a:rPr lang="en-IN" sz="4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Pipeline Stress Test Result</a:t>
            </a:r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8CE1A6B-2D74-36D5-9356-F2F4AAB37694}"/>
              </a:ext>
            </a:extLst>
          </p:cNvPr>
          <p:cNvSpPr/>
          <p:nvPr/>
        </p:nvSpPr>
        <p:spPr>
          <a:xfrm>
            <a:off x="239839" y="8054283"/>
            <a:ext cx="7541234" cy="1200328"/>
          </a:xfrm>
          <a:custGeom>
            <a:avLst/>
            <a:gdLst/>
            <a:ahLst/>
            <a:cxnLst/>
            <a:rect l="l" t="t" r="r" b="b"/>
            <a:pathLst>
              <a:path w="10054979" h="1600437">
                <a:moveTo>
                  <a:pt x="0" y="0"/>
                </a:moveTo>
                <a:lnTo>
                  <a:pt x="10054979" y="0"/>
                </a:lnTo>
                <a:lnTo>
                  <a:pt x="10054979" y="1600437"/>
                </a:lnTo>
                <a:lnTo>
                  <a:pt x="0" y="160043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72417" b="-72417"/>
            </a:stretch>
          </a:blipFill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Table 14">
                <a:extLst>
                  <a:ext uri="{FF2B5EF4-FFF2-40B4-BE49-F238E27FC236}">
                    <a16:creationId xmlns:a16="http://schemas.microsoft.com/office/drawing/2014/main" id="{A22F6602-159F-CFFC-F78D-7F0B09B068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66185"/>
                  </p:ext>
                </p:extLst>
              </p:nvPr>
            </p:nvGraphicFramePr>
            <p:xfrm>
              <a:off x="605771" y="3309774"/>
              <a:ext cx="15697200" cy="6035040"/>
            </p:xfrm>
            <a:graphic>
              <a:graphicData uri="http://schemas.openxmlformats.org/drawingml/2006/table">
                <a:tbl>
                  <a:tblPr/>
                  <a:tblGrid>
                    <a:gridCol w="2616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24974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Case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Condition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Detection Preset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Coverage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Displacement RMSE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 dirty="0">
                              <a:solidFill>
                                <a:srgbClr val="1F1F1F"/>
                              </a:solidFill>
                              <a:latin typeface="Times New Roman Bold"/>
                              <a:cs typeface="Times New Roman Bold"/>
                              <a:sym typeface="Times New Roman Bold"/>
                            </a:rPr>
                            <a:t>Failure Alerts</a:t>
                          </a:r>
                          <a:endParaRPr lang="en-US" sz="11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1026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1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Synthetic Plane (30°)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Horn Operator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100%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sSup>
                                  <m:sSupPr>
                                    <m:ctrlPr>
                                      <a:rPr lang="en-IN" sz="2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2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0.0001</m:t>
                                    </m:r>
                                  </m:e>
                                  <m:sup>
                                    <m:r>
                                      <a:rPr lang="en-IN" sz="2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0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4974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2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Satellite Optical/InSAR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Standard Mask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62%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12.4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14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1026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3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InSAR + Decayed API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EWP Phase 1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88%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4.1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2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24974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4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In-Situ Telemetry + IVM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EWP Phase 2A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96%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1.2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1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91026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5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Full Pipeline (P1+2A+2B)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Integrated Stack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99.2%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2800" kern="1200" smtClean="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0.8</m:t>
                                </m:r>
                                <m:r>
                                  <m:rPr>
                                    <m:nor/>
                                  </m:rPr>
                                  <a:rPr lang="en-IN" sz="2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 mm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0 (Verified)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Table 14">
                <a:extLst>
                  <a:ext uri="{FF2B5EF4-FFF2-40B4-BE49-F238E27FC236}">
                    <a16:creationId xmlns:a16="http://schemas.microsoft.com/office/drawing/2014/main" id="{A22F6602-159F-CFFC-F78D-7F0B09B068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266185"/>
                  </p:ext>
                </p:extLst>
              </p:nvPr>
            </p:nvGraphicFramePr>
            <p:xfrm>
              <a:off x="605771" y="3309774"/>
              <a:ext cx="15697200" cy="6035040"/>
            </p:xfrm>
            <a:graphic>
              <a:graphicData uri="http://schemas.openxmlformats.org/drawingml/2006/table">
                <a:tbl>
                  <a:tblPr/>
                  <a:tblGrid>
                    <a:gridCol w="2616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26162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Case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Condition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Detection Preset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Coverage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b="1" dirty="0"/>
                            <a:t>Displacement RMSE</a:t>
                          </a:r>
                          <a:endParaRPr lang="en-US" sz="2800" b="1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 dirty="0">
                              <a:solidFill>
                                <a:srgbClr val="1F1F1F"/>
                              </a:solidFill>
                              <a:latin typeface="Times New Roman Bold"/>
                              <a:cs typeface="Times New Roman Bold"/>
                              <a:sym typeface="Times New Roman Bold"/>
                            </a:rPr>
                            <a:t>Failure Alerts</a:t>
                          </a:r>
                          <a:endParaRPr lang="en-US" sz="11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1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Synthetic Plane (30°)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Horn Operator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100%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35" t="-104242" r="-100233" b="-4151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0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2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Satellite Optical/InSAR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Standard Mask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62%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35" t="-203012" r="-100233" b="-3126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14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3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InSAR + Decayed API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EWP Phase 1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88%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35" t="-304848" r="-100233" b="-2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2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4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In-Situ Telemetry + IVM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EWP Phase 2A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96%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35" t="-404848" r="-100233" b="-1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800" dirty="0">
                              <a:solidFill>
                                <a:srgbClr val="1F1F1F"/>
                              </a:solidFill>
                              <a:latin typeface="Times New Roman"/>
                              <a:cs typeface="Times New Roman"/>
                              <a:sym typeface="Times New Roman"/>
                            </a:rPr>
                            <a:t>1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ts val="3359"/>
                            </a:lnSpc>
                            <a:defRPr/>
                          </a:pPr>
                          <a:r>
                            <a:rPr lang="en-US" sz="2799" b="1">
                              <a:solidFill>
                                <a:srgbClr val="1F1F1F"/>
                              </a:solidFill>
                              <a:latin typeface="Times New Roman Bold"/>
                              <a:ea typeface="Times New Roman Bold"/>
                              <a:cs typeface="Times New Roman Bold"/>
                              <a:sym typeface="Times New Roman Bold"/>
                            </a:rPr>
                            <a:t>Test 5</a:t>
                          </a:r>
                          <a:endParaRPr lang="en-US" sz="110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Full Pipeline (P1+2A+2B)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Integrated Stack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99.2%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9535" t="-504848" r="-100233" b="-1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00000"/>
                            </a:lnSpc>
                            <a:defRPr/>
                          </a:pPr>
                          <a:r>
                            <a:rPr lang="en-IN" sz="2800" dirty="0"/>
                            <a:t>0 (Verified)</a:t>
                          </a:r>
                          <a:endParaRPr lang="en-US" sz="2800" dirty="0"/>
                        </a:p>
                      </a:txBody>
                      <a:tcPr marL="76200" marR="76200" marT="76200" marB="7620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805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D742-DDF4-DD03-397A-04C8E1C1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EAA5E6C-3025-3749-710B-2AE08B0E7995}"/>
              </a:ext>
            </a:extLst>
          </p:cNvPr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8F0D561-A1AD-E7D2-DAD9-C57523548BB5}"/>
              </a:ext>
            </a:extLst>
          </p:cNvPr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5464DE8-9811-AB73-2A69-409F69B1A397}"/>
                </a:ext>
              </a:extLst>
            </p:cNvPr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9DF275B-8A3F-FBA0-F974-7249B591963A}"/>
              </a:ext>
            </a:extLst>
          </p:cNvPr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779A499-5B44-8B90-104D-7AFF739C3133}"/>
                </a:ext>
              </a:extLst>
            </p:cNvPr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31D0EC7-3CF8-7493-F1C7-40B65B87006D}"/>
              </a:ext>
            </a:extLst>
          </p:cNvPr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6E5A73D-4357-A290-8F48-9D649AFF1AD6}"/>
                </a:ext>
              </a:extLst>
            </p:cNvPr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9FAB8F5-4F4C-CFB1-7B6B-B90631333E8C}"/>
              </a:ext>
            </a:extLst>
          </p:cNvPr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>
              <a:extLst>
                <a:ext uri="{FF2B5EF4-FFF2-40B4-BE49-F238E27FC236}">
                  <a16:creationId xmlns:a16="http://schemas.microsoft.com/office/drawing/2014/main" id="{C4A3B469-C13A-B9FC-8162-B9E3689467E5}"/>
                </a:ext>
              </a:extLst>
            </p:cNvPr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B2DB276-D031-0DC5-C247-0B8D9BF42160}"/>
              </a:ext>
            </a:extLst>
          </p:cNvPr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9E0FEC9-CF87-AC1C-B63A-B946306D0396}"/>
                </a:ext>
              </a:extLst>
            </p:cNvPr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160265DE-3AF0-B83D-0A7C-628799C336EA}"/>
              </a:ext>
            </a:extLst>
          </p:cNvPr>
          <p:cNvSpPr txBox="1"/>
          <p:nvPr/>
        </p:nvSpPr>
        <p:spPr>
          <a:xfrm>
            <a:off x="605771" y="2113713"/>
            <a:ext cx="14721020" cy="123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B39657A-08FE-6EF8-BF1F-4E71735EB9F5}"/>
              </a:ext>
            </a:extLst>
          </p:cNvPr>
          <p:cNvSpPr/>
          <p:nvPr/>
        </p:nvSpPr>
        <p:spPr>
          <a:xfrm>
            <a:off x="239839" y="8054283"/>
            <a:ext cx="7541234" cy="1200328"/>
          </a:xfrm>
          <a:custGeom>
            <a:avLst/>
            <a:gdLst/>
            <a:ahLst/>
            <a:cxnLst/>
            <a:rect l="l" t="t" r="r" b="b"/>
            <a:pathLst>
              <a:path w="10054979" h="1600437">
                <a:moveTo>
                  <a:pt x="0" y="0"/>
                </a:moveTo>
                <a:lnTo>
                  <a:pt x="10054979" y="0"/>
                </a:lnTo>
                <a:lnTo>
                  <a:pt x="10054979" y="1600437"/>
                </a:lnTo>
                <a:lnTo>
                  <a:pt x="0" y="160043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72417" b="-72417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E9FBAF-94FD-A017-BAEA-516CA7D858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229" y="2933700"/>
            <a:ext cx="16684571" cy="64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C9BE-A23C-88D1-FF67-AB9EFC99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9EA5960-5898-6F99-2ED9-BB0478372D20}"/>
              </a:ext>
            </a:extLst>
          </p:cNvPr>
          <p:cNvSpPr txBox="1"/>
          <p:nvPr/>
        </p:nvSpPr>
        <p:spPr>
          <a:xfrm>
            <a:off x="605771" y="9708375"/>
            <a:ext cx="2503351" cy="471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6/10/2026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99BAD4D-AFD3-5F1F-4A99-09989AC0DCC7}"/>
              </a:ext>
            </a:extLst>
          </p:cNvPr>
          <p:cNvGrpSpPr/>
          <p:nvPr/>
        </p:nvGrpSpPr>
        <p:grpSpPr>
          <a:xfrm>
            <a:off x="17820008" y="2435200"/>
            <a:ext cx="460800" cy="7882804"/>
            <a:chOff x="0" y="0"/>
            <a:chExt cx="614401" cy="1051040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D937A4-E351-C263-EFEE-29AF28F3B60B}"/>
                </a:ext>
              </a:extLst>
            </p:cNvPr>
            <p:cNvSpPr/>
            <p:nvPr/>
          </p:nvSpPr>
          <p:spPr>
            <a:xfrm>
              <a:off x="0" y="0"/>
              <a:ext cx="614426" cy="10510393"/>
            </a:xfrm>
            <a:custGeom>
              <a:avLst/>
              <a:gdLst/>
              <a:ahLst/>
              <a:cxnLst/>
              <a:rect l="l" t="t" r="r" b="b"/>
              <a:pathLst>
                <a:path w="614426" h="10510393">
                  <a:moveTo>
                    <a:pt x="0" y="0"/>
                  </a:moveTo>
                  <a:lnTo>
                    <a:pt x="614426" y="0"/>
                  </a:lnTo>
                  <a:lnTo>
                    <a:pt x="614426" y="10510393"/>
                  </a:lnTo>
                  <a:lnTo>
                    <a:pt x="0" y="1051039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508F43D-8FD7-435A-F35D-4A6FFB267469}"/>
              </a:ext>
            </a:extLst>
          </p:cNvPr>
          <p:cNvGrpSpPr/>
          <p:nvPr/>
        </p:nvGrpSpPr>
        <p:grpSpPr>
          <a:xfrm>
            <a:off x="4210050" y="9672199"/>
            <a:ext cx="13614597" cy="645604"/>
            <a:chOff x="0" y="0"/>
            <a:chExt cx="18152796" cy="86080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DCD2554-9266-3E42-7DA6-F624F97C5727}"/>
                </a:ext>
              </a:extLst>
            </p:cNvPr>
            <p:cNvSpPr/>
            <p:nvPr/>
          </p:nvSpPr>
          <p:spPr>
            <a:xfrm>
              <a:off x="0" y="0"/>
              <a:ext cx="18152745" cy="860806"/>
            </a:xfrm>
            <a:custGeom>
              <a:avLst/>
              <a:gdLst/>
              <a:ahLst/>
              <a:cxnLst/>
              <a:rect l="l" t="t" r="r" b="b"/>
              <a:pathLst>
                <a:path w="18152745" h="860806">
                  <a:moveTo>
                    <a:pt x="0" y="0"/>
                  </a:moveTo>
                  <a:lnTo>
                    <a:pt x="18152745" y="0"/>
                  </a:lnTo>
                  <a:lnTo>
                    <a:pt x="18152745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B07FF3FA-C45F-55F3-DFF3-8A06D3DF8978}"/>
              </a:ext>
            </a:extLst>
          </p:cNvPr>
          <p:cNvGrpSpPr/>
          <p:nvPr/>
        </p:nvGrpSpPr>
        <p:grpSpPr>
          <a:xfrm>
            <a:off x="0" y="9672199"/>
            <a:ext cx="4210202" cy="645604"/>
            <a:chOff x="0" y="0"/>
            <a:chExt cx="5613603" cy="860806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7487B12-A8C9-FD83-9084-E5C26FD5FF13}"/>
                </a:ext>
              </a:extLst>
            </p:cNvPr>
            <p:cNvSpPr/>
            <p:nvPr/>
          </p:nvSpPr>
          <p:spPr>
            <a:xfrm>
              <a:off x="0" y="0"/>
              <a:ext cx="5613654" cy="860806"/>
            </a:xfrm>
            <a:custGeom>
              <a:avLst/>
              <a:gdLst/>
              <a:ahLst/>
              <a:cxnLst/>
              <a:rect l="l" t="t" r="r" b="b"/>
              <a:pathLst>
                <a:path w="5613654" h="860806">
                  <a:moveTo>
                    <a:pt x="0" y="0"/>
                  </a:moveTo>
                  <a:lnTo>
                    <a:pt x="5613654" y="0"/>
                  </a:lnTo>
                  <a:lnTo>
                    <a:pt x="5613654" y="860806"/>
                  </a:lnTo>
                  <a:lnTo>
                    <a:pt x="0" y="86080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5B79611-BDFB-5876-1D22-60FBE230B4EF}"/>
              </a:ext>
            </a:extLst>
          </p:cNvPr>
          <p:cNvGrpSpPr/>
          <p:nvPr/>
        </p:nvGrpSpPr>
        <p:grpSpPr>
          <a:xfrm>
            <a:off x="16129654" y="268119"/>
            <a:ext cx="1937090" cy="1443838"/>
            <a:chOff x="0" y="0"/>
            <a:chExt cx="2582786" cy="1925117"/>
          </a:xfrm>
        </p:grpSpPr>
        <p:sp>
          <p:nvSpPr>
            <p:cNvPr id="10" name="Freeform 10" descr="A close up of a sign  Description automatically generated">
              <a:extLst>
                <a:ext uri="{FF2B5EF4-FFF2-40B4-BE49-F238E27FC236}">
                  <a16:creationId xmlns:a16="http://schemas.microsoft.com/office/drawing/2014/main" id="{A7E21943-CCB7-B141-8EC0-11AD4CB8F623}"/>
                </a:ext>
              </a:extLst>
            </p:cNvPr>
            <p:cNvSpPr/>
            <p:nvPr/>
          </p:nvSpPr>
          <p:spPr>
            <a:xfrm>
              <a:off x="0" y="0"/>
              <a:ext cx="2582799" cy="1925066"/>
            </a:xfrm>
            <a:custGeom>
              <a:avLst/>
              <a:gdLst/>
              <a:ahLst/>
              <a:cxnLst/>
              <a:rect l="l" t="t" r="r" b="b"/>
              <a:pathLst>
                <a:path w="2582799" h="1925066">
                  <a:moveTo>
                    <a:pt x="0" y="0"/>
                  </a:moveTo>
                  <a:lnTo>
                    <a:pt x="2582799" y="0"/>
                  </a:lnTo>
                  <a:lnTo>
                    <a:pt x="2582799" y="1925066"/>
                  </a:lnTo>
                  <a:lnTo>
                    <a:pt x="0" y="1925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9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A6B0B0D-4E41-5CE9-671D-F49E9D97E4B3}"/>
              </a:ext>
            </a:extLst>
          </p:cNvPr>
          <p:cNvGrpSpPr/>
          <p:nvPr/>
        </p:nvGrpSpPr>
        <p:grpSpPr>
          <a:xfrm>
            <a:off x="384229" y="231848"/>
            <a:ext cx="7396848" cy="1516399"/>
            <a:chOff x="0" y="0"/>
            <a:chExt cx="9862464" cy="2021865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B4CEB20-3608-7880-8A53-EBABBB4CE783}"/>
                </a:ext>
              </a:extLst>
            </p:cNvPr>
            <p:cNvSpPr/>
            <p:nvPr/>
          </p:nvSpPr>
          <p:spPr>
            <a:xfrm>
              <a:off x="0" y="0"/>
              <a:ext cx="9862439" cy="2021840"/>
            </a:xfrm>
            <a:custGeom>
              <a:avLst/>
              <a:gdLst/>
              <a:ahLst/>
              <a:cxnLst/>
              <a:rect l="l" t="t" r="r" b="b"/>
              <a:pathLst>
                <a:path w="9862439" h="2021840">
                  <a:moveTo>
                    <a:pt x="0" y="0"/>
                  </a:moveTo>
                  <a:lnTo>
                    <a:pt x="9862439" y="0"/>
                  </a:lnTo>
                  <a:lnTo>
                    <a:pt x="9862439" y="2021840"/>
                  </a:lnTo>
                  <a:lnTo>
                    <a:pt x="0" y="202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5FF32E51-07A3-C64E-48D5-C567183ECA01}"/>
              </a:ext>
            </a:extLst>
          </p:cNvPr>
          <p:cNvSpPr txBox="1"/>
          <p:nvPr/>
        </p:nvSpPr>
        <p:spPr>
          <a:xfrm>
            <a:off x="605771" y="2113713"/>
            <a:ext cx="14721020" cy="1230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endParaRPr lang="en-US" sz="3999" b="1" dirty="0">
              <a:solidFill>
                <a:srgbClr val="C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0A5D034-0939-2039-341D-B2F4470B44C6}"/>
              </a:ext>
            </a:extLst>
          </p:cNvPr>
          <p:cNvSpPr/>
          <p:nvPr/>
        </p:nvSpPr>
        <p:spPr>
          <a:xfrm>
            <a:off x="239839" y="8054283"/>
            <a:ext cx="7541234" cy="1200328"/>
          </a:xfrm>
          <a:custGeom>
            <a:avLst/>
            <a:gdLst/>
            <a:ahLst/>
            <a:cxnLst/>
            <a:rect l="l" t="t" r="r" b="b"/>
            <a:pathLst>
              <a:path w="10054979" h="1600437">
                <a:moveTo>
                  <a:pt x="0" y="0"/>
                </a:moveTo>
                <a:lnTo>
                  <a:pt x="10054979" y="0"/>
                </a:lnTo>
                <a:lnTo>
                  <a:pt x="10054979" y="1600437"/>
                </a:lnTo>
                <a:lnTo>
                  <a:pt x="0" y="1600437"/>
                </a:lnTo>
                <a:close/>
              </a:path>
            </a:pathLst>
          </a:custGeom>
          <a:blipFill>
            <a:blip r:embed="rId5">
              <a:alphaModFix amt="0"/>
            </a:blip>
            <a:stretch>
              <a:fillRect t="-72417" b="-72417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2097266-3A9F-FFC9-65DA-F5D4B3FD53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459" y="2808386"/>
            <a:ext cx="17202341" cy="64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2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1182</Words>
  <Application>Microsoft Office PowerPoint</Application>
  <PresentationFormat>Custom</PresentationFormat>
  <Paragraphs>198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Times New Roman Bold</vt:lpstr>
      <vt:lpstr>Times New Roman</vt:lpstr>
      <vt:lpstr>Calibri</vt:lpstr>
      <vt:lpstr>Times New Roman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ppt updated.pptx</dc:title>
  <cp:lastModifiedBy>Pratham Nagar</cp:lastModifiedBy>
  <cp:revision>2</cp:revision>
  <dcterms:created xsi:type="dcterms:W3CDTF">2006-08-16T00:00:00Z</dcterms:created>
  <dcterms:modified xsi:type="dcterms:W3CDTF">2026-10-13T20:32:18Z</dcterms:modified>
  <dc:identifier>DAHXPnL96BY</dc:identifier>
</cp:coreProperties>
</file>